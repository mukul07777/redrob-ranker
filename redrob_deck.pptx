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286000"/>
          </a:xfrm>
          <a:prstGeom prst="rect">
            <a:avLst/>
          </a:prstGeom>
          <a:solidFill>
            <a:srgbClr val="121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-1097280"/>
            <a:ext cx="4114800" cy="4114800"/>
          </a:xfrm>
          <a:prstGeom prst="ellipse">
            <a:avLst/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457200"/>
            <a:ext cx="2286000" cy="2286000"/>
          </a:xfrm>
          <a:prstGeom prst="ellipse">
            <a:avLst/>
          </a:prstGeom>
          <a:solidFill>
            <a:srgbClr val="1F3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474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  <a:latin typeface="Calibri"/>
              </a:rPr>
              <a:t>REDROB HACKATHON  ·  DATA &amp; AI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mbria"/>
              </a:rPr>
              <a:t>Intelligent Candidate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5C518"/>
                </a:solidFill>
                <a:latin typeface="Cambria"/>
              </a:rPr>
              <a:t>Discovery &amp; Ranking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16352"/>
            <a:ext cx="5486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4436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8FF"/>
                </a:solidFill>
                <a:latin typeface="Calibri"/>
              </a:rPr>
              <a:t>Evidence-weighted scoring across 100,000 candidates for Senior AI Engineer — Founding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39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9476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  <a:latin typeface="Calibri"/>
              </a:rPr>
              <a:t>100K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FF"/>
                </a:solidFill>
                <a:latin typeface="Calibri"/>
              </a:rPr>
              <a:t>Candidates Ranked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749039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379476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  <a:latin typeface="Calibri"/>
              </a:rPr>
              <a:t>~60s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206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FF"/>
                </a:solidFill>
                <a:latin typeface="Calibri"/>
              </a:rPr>
              <a:t>CPU Runtime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749039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79476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  <a:latin typeface="Calibri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206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FF"/>
                </a:solidFill>
                <a:latin typeface="Calibri"/>
              </a:rPr>
              <a:t>Honeypots Flagged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623560"/>
            <a:ext cx="12188952" cy="1234440"/>
          </a:xfrm>
          <a:prstGeom prst="rect">
            <a:avLst/>
          </a:prstGeom>
          <a:solidFill>
            <a:srgbClr val="060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760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Mukul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72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E8"/>
                </a:solidFill>
                <a:latin typeface="Calibri"/>
              </a:rPr>
              <a:t>mukul24359@iiitd.ac.in  ·  IIIT Delhi, CSE 2028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760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C518"/>
                </a:solidFill>
                <a:latin typeface="Calibri"/>
              </a:rPr>
              <a:t>github.com/Mukul07777/redrob-ranker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6144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C518"/>
                </a:solidFill>
                <a:latin typeface="Calibri"/>
              </a:rPr>
              <a:t>mukul001-redrob-ranker.hf.space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8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Why Keyword
Filters Fail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29968"/>
            <a:ext cx="4114800" cy="254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76272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C518"/>
                </a:solidFill>
                <a:latin typeface="Calibri"/>
              </a:rPr>
              <a:t>❌  The Trap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8D8FF"/>
                </a:solidFill>
                <a:latin typeface="Calibri"/>
              </a:rPr>
              <a:t>A Marketing Manager lists 'FAISS', 'RAG', 'Pinecone' as skills and passes every keyword filter.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C518"/>
                </a:solidFill>
                <a:latin typeface="Calibri"/>
              </a:rPr>
              <a:t>❌  The Blind Spot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8D8FF"/>
                </a:solidFill>
                <a:latin typeface="Calibri"/>
              </a:rPr>
              <a:t>A Tier-5 candidate who shipped a production recommender at Swiggy never mentions 'vector database' — and gets filtered out.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C518"/>
                </a:solidFill>
                <a:latin typeface="Calibri"/>
              </a:rPr>
              <a:t>❌  The JD Warning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8D8FF"/>
                </a:solidFill>
                <a:latin typeface="Calibri"/>
              </a:rPr>
              <a:t>The JD explicitly states: 'The right answer is NOT finding candidates whose skills section contains the most AI keywords.'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0116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5A8A"/>
                </a:solidFill>
                <a:latin typeface="Calibri"/>
              </a:rPr>
              <a:t>OUR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59436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80E2E"/>
                </a:solidFill>
                <a:latin typeface="Cambria"/>
              </a:rPr>
              <a:t>Evidence Over
Keywords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2029968"/>
            <a:ext cx="5943600" cy="25400"/>
          </a:xfrm>
          <a:prstGeom prst="rect">
            <a:avLst/>
          </a:prstGeom>
          <a:solidFill>
            <a:srgbClr val="08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2176272"/>
            <a:ext cx="5943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80E2E"/>
                </a:solidFill>
                <a:latin typeface="Calibri"/>
              </a:rPr>
              <a:t>✓  Evidence-Weighted Skills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8A"/>
                </a:solidFill>
                <a:latin typeface="Calibri"/>
              </a:rPr>
              <a:t>Skill score = proficiency × endorsements × duration. Keywords with zero evidence get 5% trust regardless of claimed level.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8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80E2E"/>
                </a:solidFill>
                <a:latin typeface="Calibri"/>
              </a:rPr>
              <a:t>✓  Career Context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8A"/>
                </a:solidFill>
                <a:latin typeface="Calibri"/>
              </a:rPr>
              <a:t>Title trajectory, product vs consulting company, ML signals in job descriptions — not just the skills list.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8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80E2E"/>
                </a:solidFill>
                <a:latin typeface="Calibri"/>
              </a:rPr>
              <a:t>✓  Behavioral Availability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8A"/>
                </a:solidFill>
                <a:latin typeface="Calibri"/>
              </a:rPr>
              <a:t>A perfect-on-paper candidate inactive for 7 months with 5% response rate is not actually hireable.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8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80E2E"/>
                </a:solidFill>
                <a:latin typeface="Calibri"/>
              </a:rPr>
              <a:t>✓  Honeypot Immunity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8A"/>
                </a:solidFill>
                <a:latin typeface="Calibri"/>
              </a:rPr>
              <a:t>4 mathematical impossibility checks eliminate fabricated profiles before scoring begins.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SCORING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7-Component Weighted Formula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4552" cy="777240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C518"/>
                </a:solidFill>
                <a:latin typeface="Calibri"/>
              </a:rPr>
              <a:t>final_score  =  skill(38%)  ×w  career(22%)  +w  availability(15%)  +w  yoe(12%)  +w  location(7%)  +w  notice(4%)  +w  github(2%)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240280"/>
            <a:ext cx="2880360" cy="2240280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4632" y="2404872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0B981"/>
                </a:solidFill>
                <a:latin typeface="Calibri"/>
              </a:rPr>
              <a:t>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770632"/>
            <a:ext cx="2624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Skill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136392"/>
            <a:ext cx="26243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C8D8FF"/>
                </a:solidFill>
                <a:latin typeface="Calibri"/>
              </a:rPr>
              <a:t>proficiency × endorsement trust × duration trust. Core JD skills (embeddings, vector DB, ranking, eval) get 3× weight.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240280"/>
            <a:ext cx="2880360" cy="2240280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2404872"/>
            <a:ext cx="201168" cy="201168"/>
          </a:xfrm>
          <a:prstGeom prst="ellipse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3317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9BFF"/>
                </a:solidFill>
                <a:latin typeface="Calibri"/>
              </a:rPr>
              <a:t>22%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770632"/>
            <a:ext cx="2624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Career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3136392"/>
            <a:ext cx="26243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C8D8FF"/>
                </a:solidFill>
                <a:latin typeface="Calibri"/>
              </a:rPr>
              <a:t>Product company bonus. TCS/Infosys/Wipro/Accenture/Cognizant/Capgemini = heavy penalty. ML signals in job descriptions add score.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240280"/>
            <a:ext cx="2880360" cy="2240280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11112" y="2404872"/>
            <a:ext cx="201168" cy="20116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23317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C518"/>
                </a:solidFill>
                <a:latin typeface="Calibri"/>
              </a:rPr>
              <a:t>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2770632"/>
            <a:ext cx="2624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Availability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136392"/>
            <a:ext cx="26243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C8D8FF"/>
                </a:solidFill>
                <a:latin typeface="Calibri"/>
              </a:rPr>
              <a:t>Recency of last login × open_to_work × recruiter response rate × interview completion. Inactive &gt;6 months → max 0.35 multiplier.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2240280"/>
            <a:ext cx="2331720" cy="2240280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74352" y="2404872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2331720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78BFA"/>
                </a:solidFill>
                <a:latin typeface="Calibri"/>
              </a:rPr>
              <a:t>12%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2770632"/>
            <a:ext cx="2075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Experience Years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3136392"/>
            <a:ext cx="207568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C8D8FF"/>
                </a:solidFill>
                <a:latin typeface="Calibri"/>
              </a:rPr>
              <a:t>Sweet spot 6–8 yrs = 1.0. Symmetrical ramp-down. &gt;12 yrs penalized for title-chaser pattern per JD.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61772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4632" y="4782312"/>
            <a:ext cx="201168" cy="201168"/>
          </a:xfrm>
          <a:prstGeom prst="ellipse">
            <a:avLst/>
          </a:prstGeom>
          <a:solidFill>
            <a:srgbClr val="FB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709159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B923A"/>
                </a:solidFill>
                <a:latin typeface="Calibri"/>
              </a:rPr>
              <a:t>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" y="5148072"/>
            <a:ext cx="2624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5513831"/>
            <a:ext cx="262432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C8D8FF"/>
                </a:solidFill>
                <a:latin typeface="Calibri"/>
              </a:rPr>
              <a:t>Noida/Pune/Delhi NCR/Hyderabad = 1.0. Tier-1 + willing to relocate = 0.85. Outside India (no visa) = 0.55.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461772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47872" y="4782312"/>
            <a:ext cx="201168" cy="201168"/>
          </a:xfrm>
          <a:prstGeom prst="ellipse">
            <a:avLst/>
          </a:prstGeom>
          <a:solidFill>
            <a:srgbClr val="F8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0" y="4709159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86A4E"/>
                </a:solidFill>
                <a:latin typeface="Calibri"/>
              </a:rPr>
              <a:t>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7872" y="5148072"/>
            <a:ext cx="2624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Notice Period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513831"/>
            <a:ext cx="262432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C8D8FF"/>
                </a:solidFill>
                <a:latin typeface="Calibri"/>
              </a:rPr>
              <a:t>&lt;30 days = 1.0. 30–60 = 0.85. 60–90 = 0.72. 90+ = 0.60. JD explicitly prefers sub-30 day notice periods.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4617720"/>
            <a:ext cx="5577840" cy="2148840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11112" y="4782312"/>
            <a:ext cx="201168" cy="20116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47091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4D399"/>
                </a:solidFill>
                <a:latin typeface="Calibri"/>
              </a:rPr>
              <a:t>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1112" y="5148072"/>
            <a:ext cx="5321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GitHub Activity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1112" y="5513831"/>
            <a:ext cx="5321807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C8D8FF"/>
                </a:solidFill>
                <a:latin typeface="Calibri"/>
              </a:rPr>
              <a:t>Open-source proxy. No GitHub = 0.4 neutral-negative. Scales linearly to 1.0 at activity score 80+.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8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6A4E"/>
                </a:solidFill>
                <a:latin typeface="Calibri"/>
              </a:rPr>
              <a:t>TRAP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80E2E"/>
                </a:solidFill>
                <a:latin typeface="Cambria"/>
              </a:rPr>
              <a:t>Honeypot Detection — 4 Impossibility Checks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4552" cy="475488"/>
          </a:xfrm>
          <a:prstGeom prst="roundRect">
            <a:avLst>
              <a:gd name="adj" fmla="val 5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35024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6A4E"/>
                </a:solidFill>
                <a:latin typeface="Calibri"/>
              </a:rPr>
              <a:t>⚠   ~80 honeypots exist in the 100K pool  ·  Submissions with &gt;10% honeypots in top-100 are DISQUALIFIED  ·  All 20 flagged candidates scored 0.001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01952"/>
            <a:ext cx="5650992" cy="21762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2084832"/>
            <a:ext cx="502920" cy="502920"/>
          </a:xfrm>
          <a:prstGeom prst="ellipse">
            <a:avLst/>
          </a:prstGeom>
          <a:solidFill>
            <a:srgbClr val="F8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84832"/>
            <a:ext cx="4690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0E2E"/>
                </a:solidFill>
                <a:latin typeface="Calibri"/>
              </a:rPr>
              <a:t>YoE vs Career History Mismatch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96312"/>
            <a:ext cx="4690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6A4E"/>
                </a:solidFill>
                <a:latin typeface="Calibri"/>
              </a:rPr>
              <a:t>FLAGGED → score = 0.001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62072"/>
            <a:ext cx="5285231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A8A"/>
                </a:solidFill>
                <a:latin typeface="Calibri"/>
              </a:rPr>
              <a:t>Claimed years_of_experience is &gt;3× the implied YoE from summed career_history duration_months. Example: claims 15 years but all job entries total 4 years.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1901952"/>
            <a:ext cx="5650992" cy="21762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2084832"/>
            <a:ext cx="502920" cy="50292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10312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2084832"/>
            <a:ext cx="4690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0E2E"/>
                </a:solidFill>
                <a:latin typeface="Calibri"/>
              </a:rPr>
              <a:t>Expert Skills With Zero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2496312"/>
            <a:ext cx="4690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FLAGGED → score = 0.001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862072"/>
            <a:ext cx="5285231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A8A"/>
                </a:solidFill>
                <a:latin typeface="Calibri"/>
              </a:rPr>
              <a:t>4+ skills marked 'advanced' or 'expert' with BOTH endorsements=0 AND duration_months=0. Legitimate experts always leave at least one evidence trail.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33672"/>
            <a:ext cx="5650992" cy="21762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4416552"/>
            <a:ext cx="502920" cy="502920"/>
          </a:xfrm>
          <a:prstGeom prst="ellipse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416552"/>
            <a:ext cx="4690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0E2E"/>
                </a:solidFill>
                <a:latin typeface="Calibri"/>
              </a:rPr>
              <a:t>Single Job + Impossible Tenure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28032"/>
            <a:ext cx="4690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9BFF"/>
                </a:solidFill>
                <a:latin typeface="Calibri"/>
              </a:rPr>
              <a:t>FLAGGED → score = 0.001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93792"/>
            <a:ext cx="5285231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A8A"/>
                </a:solidFill>
                <a:latin typeface="Calibri"/>
              </a:rPr>
              <a:t>Claims 10+ years experience, has exactly one job entry, and started that job &lt;6 months ago. Mathematically impossible — would require pre-birth employment.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7648" y="4233672"/>
            <a:ext cx="5650992" cy="21762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0528" y="441655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43484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4416552"/>
            <a:ext cx="4690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0E2E"/>
                </a:solidFill>
                <a:latin typeface="Calibri"/>
              </a:rPr>
              <a:t>Endorsement-Duration Ratio Anomaly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4828032"/>
            <a:ext cx="4690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FLAGGED → score = 0.001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193792"/>
            <a:ext cx="5285231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A8A"/>
                </a:solidFill>
                <a:latin typeface="Calibri"/>
              </a:rPr>
              <a:t>3+ skills each with &gt;50 endorsements but ≤2 months duration. Endorsements accumulate over years — high endorsements on brand-new skills signal fabrication.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Top 5 Ranked Candidates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70432"/>
            <a:ext cx="3611880" cy="658368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16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✓ Submission Valid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FF"/>
                </a:solidFill>
                <a:latin typeface="Calibri"/>
              </a:rPr>
              <a:t>python validate_submission.py → Submission is valid.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170432"/>
            <a:ext cx="3611880" cy="658368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216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20 Honeypots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5361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FF"/>
                </a:solidFill>
                <a:latin typeface="Calibri"/>
              </a:rPr>
              <a:t>Detected and suppressed from top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4464" y="1170432"/>
            <a:ext cx="3611880" cy="658368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216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~60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15361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FF"/>
                </a:solidFill>
                <a:latin typeface="Calibri"/>
              </a:rPr>
              <a:t>Full 100K ranking on CPU, stdlib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74552" cy="859536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" y="213969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157984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029967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Staff Machine Learning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40487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FF"/>
                </a:solidFill>
                <a:latin typeface="Calibri"/>
              </a:rPr>
              <a:t>CAND_0077337  ·  Swiggy · Delhi NCR  ·  7.0 yrs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130552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8E8"/>
                </a:solidFill>
                <a:latin typeface="Calibri"/>
              </a:rPr>
              <a:t>Embeddings, vector search, ranking  ·  91% response rate  ·  Active &lt;30d  ·  Notice &lt;30d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21031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0B981"/>
                </a:solidFill>
                <a:latin typeface="Calibri"/>
              </a:rPr>
              <a:t>0.9539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898648"/>
            <a:ext cx="11274552" cy="859536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6928" y="3072384"/>
            <a:ext cx="512064" cy="512064"/>
          </a:xfrm>
          <a:prstGeom prst="ellipse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09067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296265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Lead AI 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3375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FF"/>
                </a:solidFill>
                <a:latin typeface="Calibri"/>
              </a:rPr>
              <a:t>CAND_0081846  ·  Product Co · Preferred City  ·  6.7 yrs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06324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8E8"/>
                </a:solidFill>
                <a:latin typeface="Calibri"/>
              </a:rPr>
              <a:t>Core retrieval + NLP skills with endorsements  ·  High availability  ·  Strong behavioral signals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303580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389BFF"/>
                </a:solidFill>
                <a:latin typeface="Calibri"/>
              </a:rPr>
              <a:t>0.9363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831335"/>
            <a:ext cx="11274552" cy="859536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6928" y="4005072"/>
            <a:ext cx="512064" cy="51206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023359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389534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Senior Machine Learning Engineer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27024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FF"/>
                </a:solidFill>
                <a:latin typeface="Calibri"/>
              </a:rPr>
              <a:t>CAND_0018499  ·  Product Co · India  ·  7.2 yrs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995927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8E8"/>
                </a:solidFill>
                <a:latin typeface="Calibri"/>
              </a:rPr>
              <a:t>Production ML background  ·  JD sweet-spot YoE  ·  Strong platform engagement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396849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A78BFA"/>
                </a:solidFill>
                <a:latin typeface="Calibri"/>
              </a:rPr>
              <a:t>0.9327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764024"/>
            <a:ext cx="11274552" cy="859536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6928" y="4937760"/>
            <a:ext cx="512064" cy="512064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4956048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8280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Senior AI Engineer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520293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FF"/>
                </a:solidFill>
                <a:latin typeface="Calibri"/>
              </a:rPr>
              <a:t>CAND_0002025  ·  AI-Native Co · India  ·  5.9 yrs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928616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8E8"/>
                </a:solidFill>
                <a:latin typeface="Calibri"/>
              </a:rPr>
              <a:t>Search/ranking experience  ·  Endorsed skills with duration  ·  Good location fit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4901184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5C518"/>
                </a:solidFill>
                <a:latin typeface="Calibri"/>
              </a:rPr>
              <a:t>0.9322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696712"/>
            <a:ext cx="11274552" cy="859536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6928" y="5870448"/>
            <a:ext cx="512064" cy="512064"/>
          </a:xfrm>
          <a:prstGeom prst="ellipse">
            <a:avLst/>
          </a:prstGeom>
          <a:solidFill>
            <a:srgbClr val="F8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5888736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5760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Search Engineer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6135624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FF"/>
                </a:solidFill>
                <a:latin typeface="Calibri"/>
              </a:rPr>
              <a:t>CAND_0064326  ·  Product Co · India  ·  7.6 yrs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5861304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8E8"/>
                </a:solidFill>
                <a:latin typeface="Calibri"/>
              </a:rPr>
              <a:t>Direct role title match  ·  IR + ranking background  ·  Active and responsive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583387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86A4E"/>
                </a:solidFill>
                <a:latin typeface="Calibri"/>
              </a:rPr>
              <a:t>0.9265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8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5A8A"/>
                </a:solidFill>
                <a:latin typeface="Calibri"/>
              </a:rPr>
              <a:t>TECHNICAL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80E2E"/>
                </a:solidFill>
                <a:latin typeface="Cambria"/>
              </a:rPr>
              <a:t>How the Skill Match Score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25880"/>
            <a:ext cx="2148840" cy="2011680"/>
          </a:xfrm>
          <a:prstGeom prst="roundRect">
            <a:avLst>
              <a:gd name="adj" fmla="val 5000"/>
            </a:avLst>
          </a:prstGeom>
          <a:solidFill>
            <a:srgbClr val="08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417320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C518"/>
                </a:solidFill>
                <a:latin typeface="Calibri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993392"/>
            <a:ext cx="1920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Candidate skill list with proficiency, endorsements, duration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0574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80E2E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5768" y="1325880"/>
            <a:ext cx="2148840" cy="2011680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5496" y="1417320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C518"/>
                </a:solidFill>
                <a:latin typeface="Calibri"/>
              </a:rPr>
              <a:t>EVIDENCE
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5496" y="1993392"/>
            <a:ext cx="1920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endorse_trust = log(1+n) / log(51)
duration_trust = months / 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20574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80E2E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1325880"/>
            <a:ext cx="2148840" cy="2011680"/>
          </a:xfrm>
          <a:prstGeom prst="roundRect">
            <a:avLst>
              <a:gd name="adj" fmla="val 5000"/>
            </a:avLst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5504" y="1417320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C518"/>
                </a:solidFill>
                <a:latin typeface="Calibri"/>
              </a:rPr>
              <a:t>WEIGHT
LOOKUP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1993392"/>
            <a:ext cx="1920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Match skill name to 60+ core JD keywords. 3× weight for embeddings, vector DB, ranking, eval.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20574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80E2E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15783" y="1325880"/>
            <a:ext cx="2148840" cy="2011680"/>
          </a:xfrm>
          <a:prstGeom prst="roundRect">
            <a:avLst>
              <a:gd name="adj" fmla="val 5000"/>
            </a:avLst>
          </a:prstGeom>
          <a:solidFill>
            <a:srgbClr val="12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1" y="1417320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C518"/>
                </a:solidFill>
                <a:latin typeface="Calibri"/>
              </a:rPr>
              <a:t>COMBINE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1" y="1993392"/>
            <a:ext cx="1920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score += weight × proficiency × (0.4 + 0.6 × evidence)
Zero-evidence → 5% trust floor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64624" y="20574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80E2E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65792" y="1325880"/>
            <a:ext cx="2148840" cy="201168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19" y="1417320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C518"/>
                </a:solidFill>
                <a:latin typeface="Calibri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1993392"/>
            <a:ext cx="1920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Normalized 0–1. Text bonus for Tier-5 candidates describing work without buzzwords.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520440"/>
            <a:ext cx="11457432" cy="457200"/>
          </a:xfrm>
          <a:prstGeom prst="roundRect">
            <a:avLst>
              <a:gd name="adj" fmla="val 5000"/>
            </a:avLst>
          </a:prstGeom>
          <a:solidFill>
            <a:srgbClr val="08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593592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  <a:latin typeface="Calibri"/>
              </a:rPr>
              <a:t>WHY THIS BEATS KEYWORD MATCHING  →  A candidate claiming 'Expert' in FAISS with 0 endorsements and 0 months scores lower than one with 'Intermediate' + 40 endorsements + 36 months.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133087"/>
            <a:ext cx="557784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22452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0E2E"/>
                </a:solidFill>
                <a:latin typeface="Calibri"/>
              </a:rPr>
              <a:t>Catching Keyword Stuffers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66344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A5A8A"/>
                </a:solidFill>
                <a:latin typeface="Calibri"/>
              </a:rPr>
              <a:t>The Marketing Manager with perfect AI skills scores near 0 on career_quality regardless of keyword count.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A5A8A"/>
                </a:solidFill>
                <a:latin typeface="Calibri"/>
              </a:rPr>
              <a:t>Consulting-only career (TCS/Infosys entire history) → automatic 0.35 penalty on career score per JD instructions.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4133087"/>
            <a:ext cx="557784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2" y="422452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0E2E"/>
                </a:solidFill>
                <a:latin typeface="Calibri"/>
              </a:rPr>
              <a:t>Elevating Tier-5 Candidates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466344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A5A8A"/>
                </a:solidFill>
                <a:latin typeface="Calibri"/>
              </a:rPr>
              <a:t>Text bonus scans candidate summary + headline for core concepts — even if not listed as formal skills.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A5A8A"/>
                </a:solidFill>
                <a:latin typeface="Calibri"/>
              </a:rPr>
              <a:t>A Swiggy engineer who describes 'built a real-time recommendation engine' scores a text bonus for 'recommendation' even without 'FAISS' in skill 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801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 i="0">
                <a:solidFill>
                  <a:srgbClr val="121D4F"/>
                </a:solidFill>
                <a:latin typeface="Cambria"/>
              </a:rPr>
              <a:t>SUBMITTED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  <a:latin typeface="Calibri"/>
              </a:rPr>
              <a:t>SUBMISSION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Everything Delivered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72768"/>
            <a:ext cx="11274552" cy="713232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82495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6642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submission.csv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682495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F"/>
                </a:solidFill>
                <a:latin typeface="Calibri"/>
              </a:rPr>
              <a:t>100 candidates ranked, validated by validate_submission.py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11274552" cy="713232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871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rank.py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487168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F"/>
                </a:solidFill>
                <a:latin typeface="Calibri"/>
              </a:rPr>
              <a:t>Single-file ranker — stdlib only, CPU, no network, ~60s runtime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82112"/>
            <a:ext cx="11274552" cy="713232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918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2735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Sandbox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291840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F"/>
                </a:solidFill>
                <a:latin typeface="Calibri"/>
              </a:rPr>
              <a:t>mukul001-redrob-ranker.hf.space — live Gradio demo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86784"/>
            <a:ext cx="11274552" cy="713232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9651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07822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GitHub Repo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096512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F"/>
                </a:solidFill>
                <a:latin typeface="Calibri"/>
              </a:rPr>
              <a:t>github.com/Mukul07777/redrob-ranker — public, clean, documented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91456"/>
            <a:ext cx="11274552" cy="713232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90118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8828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PDF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901184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F"/>
                </a:solidFill>
                <a:latin typeface="Calibri"/>
              </a:rPr>
              <a:t>This presentation — architecture, approach,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96128"/>
            <a:ext cx="11274552" cy="713232"/>
          </a:xfrm>
          <a:prstGeom prst="roundRect">
            <a:avLst>
              <a:gd name="adj" fmla="val 5000"/>
            </a:avLst>
          </a:prstGeom>
          <a:solidFill>
            <a:srgbClr val="1A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70585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6875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submission_metadata.yaml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5705856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F"/>
                </a:solidFill>
                <a:latin typeface="Calibri"/>
              </a:rPr>
              <a:t>Team info, AI tools declared, reproduce command provided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60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0" y="6419088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E8"/>
                </a:solidFill>
                <a:latin typeface="Calibri"/>
              </a:rPr>
              <a:t>Redrob Hackathon  ·  Mukul  ·  IIIT Delhi  ·  mukul24359@iiitd.ac.in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